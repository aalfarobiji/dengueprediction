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28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175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Early Warning System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Dengue Case Prediction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ALFAROBI J.I.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8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Machine Learning · Meteorological Features · Early Warning System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368AA"/>
          </a:solidFill>
          <a:ln w="12700">
            <a:solidFill>
              <a:srgbClr val="1368A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·  SHAP  ·  Time Series CV  ·  602 Weekly Observations  ·  4-Level EWS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3C2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Observations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246888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3C2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6888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9728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46177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3C2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1772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After Lag Eng.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09728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676656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3C2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6656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Dropna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514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Variable: Dengue Cases (Weekly)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EBF4F9"/>
          </a:solidFill>
          <a:ln w="12700">
            <a:solidFill>
              <a:srgbClr val="D4E9F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502920" y="29718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6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29718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8,502 cases/week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971800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EBF4F9"/>
          </a:solidFill>
          <a:ln w="12700">
            <a:solidFill>
              <a:srgbClr val="D4E9F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3429000" y="29718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6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29718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7,490 cases/week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971800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EBF4F9"/>
          </a:solidFill>
          <a:ln w="12700">
            <a:solidFill>
              <a:srgbClr val="D4E9F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6355080" y="29718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6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06640" y="29718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6,781 cases/week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502152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EBF4F9"/>
          </a:solidFill>
          <a:ln w="12700">
            <a:solidFill>
              <a:srgbClr val="D4E9F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5"/>
          <p:cNvSpPr/>
          <p:nvPr/>
        </p:nvSpPr>
        <p:spPr>
          <a:xfrm>
            <a:off x="502920" y="350215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6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54480" y="350215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cases/week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91840" y="3502152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EBF4F9"/>
          </a:solidFill>
          <a:ln w="12700">
            <a:solidFill>
              <a:srgbClr val="D4E9F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3429000" y="350215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6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0560" y="350215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24,983 cases/week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434840"/>
            <a:ext cx="8503920" cy="457200"/>
          </a:xfrm>
          <a:prstGeom prst="roundRect">
            <a:avLst>
              <a:gd name="adj" fmla="val 16000"/>
            </a:avLst>
          </a:prstGeom>
          <a:solidFill>
            <a:srgbClr val="1368AA"/>
          </a:solidFill>
          <a:ln w="12700">
            <a:solidFill>
              <a:srgbClr val="1368A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transformation applied to normalize the highly skewed case distribution before modeling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3192" y="2103120"/>
            <a:ext cx="960120" cy="1234440"/>
          </a:xfrm>
          <a:prstGeom prst="roundRect">
            <a:avLst>
              <a:gd name="adj" fmla="val 9524"/>
            </a:avLst>
          </a:prstGeom>
          <a:solidFill>
            <a:srgbClr val="1368A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393192" y="21579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" y="240487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93192" y="281635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453896" y="2103120"/>
            <a:ext cx="960120" cy="1234440"/>
          </a:xfrm>
          <a:prstGeom prst="roundRect">
            <a:avLst>
              <a:gd name="adj" fmla="val 9524"/>
            </a:avLst>
          </a:prstGeom>
          <a:solidFill>
            <a:srgbClr val="13C2C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1453896" y="21579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53896" y="240487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53896" y="281635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Variables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(1–8 weeks)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514600" y="2103120"/>
            <a:ext cx="960120" cy="1234440"/>
          </a:xfrm>
          <a:prstGeom prst="roundRect">
            <a:avLst>
              <a:gd name="adj" fmla="val 9524"/>
            </a:avLst>
          </a:prstGeom>
          <a:solidFill>
            <a:srgbClr val="1368A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2514600" y="21579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240487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14600" y="281635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Time-ordered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575304" y="2103120"/>
            <a:ext cx="960120" cy="1234440"/>
          </a:xfrm>
          <a:prstGeom prst="roundRect">
            <a:avLst>
              <a:gd name="adj" fmla="val 9524"/>
            </a:avLst>
          </a:prstGeom>
          <a:solidFill>
            <a:srgbClr val="13C2C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3575304" y="21579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75304" y="240487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75304" y="281635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squarederror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636008" y="2103120"/>
            <a:ext cx="960120" cy="1234440"/>
          </a:xfrm>
          <a:prstGeom prst="roundRect">
            <a:avLst>
              <a:gd name="adj" fmla="val 9524"/>
            </a:avLst>
          </a:prstGeom>
          <a:solidFill>
            <a:srgbClr val="1368A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4636008" y="21579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36008" y="240487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36008" y="281635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50-iter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RandomSearch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TSCV n=5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696712" y="2103120"/>
            <a:ext cx="960120" cy="1234440"/>
          </a:xfrm>
          <a:prstGeom prst="roundRect">
            <a:avLst>
              <a:gd name="adj" fmla="val 9524"/>
            </a:avLst>
          </a:prstGeom>
          <a:solidFill>
            <a:srgbClr val="13C2C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5696712" y="21579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96712" y="240487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96712" y="281635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/ RMSE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757416" y="2103120"/>
            <a:ext cx="960120" cy="1234440"/>
          </a:xfrm>
          <a:prstGeom prst="roundRect">
            <a:avLst>
              <a:gd name="adj" fmla="val 9524"/>
            </a:avLst>
          </a:prstGeom>
          <a:solidFill>
            <a:srgbClr val="1368A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6757416" y="21579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57416" y="240487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57416" y="281635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Bar Plot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818120" y="2103120"/>
            <a:ext cx="960120" cy="1234440"/>
          </a:xfrm>
          <a:prstGeom prst="roundRect">
            <a:avLst>
              <a:gd name="adj" fmla="val 9524"/>
            </a:avLst>
          </a:prstGeom>
          <a:solidFill>
            <a:srgbClr val="13C2C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7818120" y="21579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818120" y="240487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818120" y="281635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4-level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modeling done in Python · sklearn · XGBoost · SHAP · joblib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68AA"/>
          </a:solidFill>
          <a:ln w="12700">
            <a:solidFill>
              <a:srgbClr val="1368A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Hyperparameters Found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· 50 iterations · TimeSeriesSplit (n_splits=5) · Scoring: neg_RMSE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06040" cy="1261872"/>
          </a:xfrm>
          <a:prstGeom prst="roundRect">
            <a:avLst>
              <a:gd name="adj" fmla="val 8696"/>
            </a:avLst>
          </a:prstGeom>
          <a:solidFill>
            <a:srgbClr val="EBF4F9"/>
          </a:solidFill>
          <a:ln w="12700">
            <a:solidFill>
              <a:srgbClr val="D4E9F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457200" y="16184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368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boosting trees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508760"/>
            <a:ext cx="2606040" cy="1261872"/>
          </a:xfrm>
          <a:prstGeom prst="roundRect">
            <a:avLst>
              <a:gd name="adj" fmla="val 8696"/>
            </a:avLst>
          </a:prstGeom>
          <a:solidFill>
            <a:srgbClr val="EBF4F9"/>
          </a:solidFill>
          <a:ln w="12700">
            <a:solidFill>
              <a:srgbClr val="D4E9F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3291840" y="16184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368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46120" y="2423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trees to avoid overfitting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1508760"/>
            <a:ext cx="2606040" cy="1261872"/>
          </a:xfrm>
          <a:prstGeom prst="roundRect">
            <a:avLst>
              <a:gd name="adj" fmla="val 8696"/>
            </a:avLst>
          </a:prstGeom>
          <a:solidFill>
            <a:srgbClr val="EBF4F9"/>
          </a:solidFill>
          <a:ln w="12700">
            <a:solidFill>
              <a:srgbClr val="D4E9F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6126480" y="16184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368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080760" y="2423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learning for better generalization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2606040" cy="1261872"/>
          </a:xfrm>
          <a:prstGeom prst="roundRect">
            <a:avLst>
              <a:gd name="adj" fmla="val 8696"/>
            </a:avLst>
          </a:prstGeom>
          <a:solidFill>
            <a:srgbClr val="EBF4F9"/>
          </a:solidFill>
          <a:ln w="12700">
            <a:solidFill>
              <a:srgbClr val="D4E9F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457200" y="30815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368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11480" y="38862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row sampling per tree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2971800"/>
            <a:ext cx="2606040" cy="1261872"/>
          </a:xfrm>
          <a:prstGeom prst="roundRect">
            <a:avLst>
              <a:gd name="adj" fmla="val 8696"/>
            </a:avLst>
          </a:prstGeom>
          <a:solidFill>
            <a:srgbClr val="EBF4F9"/>
          </a:solidFill>
          <a:ln w="12700">
            <a:solidFill>
              <a:srgbClr val="D4E9F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3291840" y="30815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colsample_bytree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383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368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246120" y="38862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feature sampling per tree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9320" y="2971800"/>
            <a:ext cx="2606040" cy="1261872"/>
          </a:xfrm>
          <a:prstGeom prst="roundRect">
            <a:avLst>
              <a:gd name="adj" fmla="val 8696"/>
            </a:avLst>
          </a:prstGeom>
          <a:solidFill>
            <a:srgbClr val="EBF4F9"/>
          </a:solidFill>
          <a:ln w="12700">
            <a:solidFill>
              <a:srgbClr val="D4E9F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6126480" y="30815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min_child_weight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3383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368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080760" y="38862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sum of instance weight in leaf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0"/>
          </a:xfrm>
          <a:prstGeom prst="line">
            <a:avLst/>
          </a:prstGeom>
          <a:noFill/>
          <a:ln w="31750">
            <a:solidFill>
              <a:srgbClr val="13C2C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200400"/>
          </a:xfrm>
          <a:prstGeom prst="roundRect">
            <a:avLst>
              <a:gd name="adj" fmla="val 4746"/>
            </a:avLst>
          </a:prstGeom>
          <a:solidFill>
            <a:srgbClr val="132C44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3C2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3,311 cases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24871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average, the model's prediction deviates by 3,311 cases per week from the actual count.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97480" cy="3200400"/>
          </a:xfrm>
          <a:prstGeom prst="roundRect">
            <a:avLst>
              <a:gd name="adj" fmla="val 4746"/>
            </a:avLst>
          </a:prstGeom>
          <a:solidFill>
            <a:srgbClr val="132C44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3337560" y="12801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4,133 cases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24871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288036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errors are penalized more. RMSE of 4,133 vs mean of 8,502 = ~49% relative error.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097280"/>
            <a:ext cx="2697480" cy="3200400"/>
          </a:xfrm>
          <a:prstGeom prst="roundRect">
            <a:avLst>
              <a:gd name="adj" fmla="val 4746"/>
            </a:avLst>
          </a:prstGeom>
          <a:solidFill>
            <a:srgbClr val="132C44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6217920" y="12801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17220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−0.79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72200" y="24871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288036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R² indicates the model currently underperforms a simple mean baseline on test set.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4434840"/>
            <a:ext cx="8503920" cy="548640"/>
          </a:xfrm>
          <a:prstGeom prst="roundRect">
            <a:avLst>
              <a:gd name="adj" fmla="val 16667"/>
            </a:avLst>
          </a:prstGeom>
          <a:solidFill>
            <a:srgbClr val="1A3A55"/>
          </a:solidFill>
          <a:ln w="12700">
            <a:solidFill>
              <a:srgbClr val="2A507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Negative R² on test set suggests potential overfitting or insufficient temporal generalization — model performs well on training patterns but struggles on future unseen weeks.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Feature Importance (XGBoost)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cloudcover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14600" y="1133856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1368AA"/>
          </a:solidFill>
          <a:ln w="12700">
            <a:solidFill>
              <a:srgbClr val="1368A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2514600" y="113385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46120" y="1143000"/>
            <a:ext cx="4754880" cy="2286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4754880" cy="228600"/>
          </a:xfrm>
          <a:prstGeom prst="roundRect">
            <a:avLst>
              <a:gd name="adj" fmla="val 16000"/>
            </a:avLst>
          </a:prstGeom>
          <a:solidFill>
            <a:srgbClr val="1368AA"/>
          </a:solidFill>
          <a:ln w="12700">
            <a:solidFill>
              <a:srgbClr val="1368A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8092440" y="107899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4584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513332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1368AA"/>
          </a:solidFill>
          <a:ln w="12700">
            <a:solidFill>
              <a:srgbClr val="1368A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2514600" y="15133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46120" y="1522476"/>
            <a:ext cx="4754880" cy="2286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3246120" y="1522476"/>
            <a:ext cx="3166750" cy="228600"/>
          </a:xfrm>
          <a:prstGeom prst="roundRect">
            <a:avLst>
              <a:gd name="adj" fmla="val 16000"/>
            </a:avLst>
          </a:prstGeom>
          <a:solidFill>
            <a:srgbClr val="1368AA"/>
          </a:solidFill>
          <a:ln w="12700">
            <a:solidFill>
              <a:srgbClr val="1368A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8092440" y="145846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18379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uvindex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14600" y="1892808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1368AA"/>
          </a:solidFill>
          <a:ln w="12700">
            <a:solidFill>
              <a:srgbClr val="1368A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2514600" y="189280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46120" y="1901952"/>
            <a:ext cx="4754880" cy="2286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3246120" y="1901952"/>
            <a:ext cx="1730776" cy="228600"/>
          </a:xfrm>
          <a:prstGeom prst="roundRect">
            <a:avLst>
              <a:gd name="adj" fmla="val 16000"/>
            </a:avLst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8092440" y="183794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22174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14600" y="2272284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1368AA"/>
          </a:solidFill>
          <a:ln w="12700">
            <a:solidFill>
              <a:srgbClr val="1368A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2514600" y="227228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246120" y="2281428"/>
            <a:ext cx="4754880" cy="2286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Shape 24"/>
          <p:cNvSpPr/>
          <p:nvPr/>
        </p:nvSpPr>
        <p:spPr>
          <a:xfrm>
            <a:off x="3246120" y="2281428"/>
            <a:ext cx="1721267" cy="228600"/>
          </a:xfrm>
          <a:prstGeom prst="roundRect">
            <a:avLst>
              <a:gd name="adj" fmla="val 16000"/>
            </a:avLst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5"/>
          <p:cNvSpPr/>
          <p:nvPr/>
        </p:nvSpPr>
        <p:spPr>
          <a:xfrm>
            <a:off x="8092440" y="22174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25968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sealevelpressure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14600" y="2651760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1368AA"/>
          </a:solidFill>
          <a:ln w="12700">
            <a:solidFill>
              <a:srgbClr val="1368A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2514600" y="265176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246120" y="2660904"/>
            <a:ext cx="4754880" cy="2286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Shape 30"/>
          <p:cNvSpPr/>
          <p:nvPr/>
        </p:nvSpPr>
        <p:spPr>
          <a:xfrm>
            <a:off x="3246120" y="2660904"/>
            <a:ext cx="1550091" cy="228600"/>
          </a:xfrm>
          <a:prstGeom prst="roundRect">
            <a:avLst>
              <a:gd name="adj" fmla="val 16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8092440" y="259689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29763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temp_lag_2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14600" y="3031236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Text 34"/>
          <p:cNvSpPr/>
          <p:nvPr/>
        </p:nvSpPr>
        <p:spPr>
          <a:xfrm>
            <a:off x="2514600" y="303123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246120" y="3040380"/>
            <a:ext cx="4754880" cy="2286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Shape 36"/>
          <p:cNvSpPr/>
          <p:nvPr/>
        </p:nvSpPr>
        <p:spPr>
          <a:xfrm>
            <a:off x="3246120" y="3040380"/>
            <a:ext cx="1364651" cy="228600"/>
          </a:xfrm>
          <a:prstGeom prst="roundRect">
            <a:avLst>
              <a:gd name="adj" fmla="val 16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Text 37"/>
          <p:cNvSpPr/>
          <p:nvPr/>
        </p:nvSpPr>
        <p:spPr>
          <a:xfrm>
            <a:off x="8092440" y="297637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33558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windspeed_lag_1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514600" y="3410712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2" name="Text 40"/>
          <p:cNvSpPr/>
          <p:nvPr/>
        </p:nvSpPr>
        <p:spPr>
          <a:xfrm>
            <a:off x="2514600" y="341071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246120" y="3419856"/>
            <a:ext cx="4754880" cy="2286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Shape 42"/>
          <p:cNvSpPr/>
          <p:nvPr/>
        </p:nvSpPr>
        <p:spPr>
          <a:xfrm>
            <a:off x="3246120" y="3419856"/>
            <a:ext cx="1260043" cy="228600"/>
          </a:xfrm>
          <a:prstGeom prst="roundRect">
            <a:avLst>
              <a:gd name="adj" fmla="val 16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5" name="Text 43"/>
          <p:cNvSpPr/>
          <p:nvPr/>
        </p:nvSpPr>
        <p:spPr>
          <a:xfrm>
            <a:off x="8092440" y="335584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37353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humidity_lag_2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514600" y="3790188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8" name="Text 46"/>
          <p:cNvSpPr/>
          <p:nvPr/>
        </p:nvSpPr>
        <p:spPr>
          <a:xfrm>
            <a:off x="2514600" y="37901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246120" y="3799332"/>
            <a:ext cx="4754880" cy="2286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0" name="Shape 48"/>
          <p:cNvSpPr/>
          <p:nvPr/>
        </p:nvSpPr>
        <p:spPr>
          <a:xfrm>
            <a:off x="3246120" y="3799332"/>
            <a:ext cx="1260043" cy="228600"/>
          </a:xfrm>
          <a:prstGeom prst="roundRect">
            <a:avLst>
              <a:gd name="adj" fmla="val 16000"/>
            </a:avLst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1" name="Text 49"/>
          <p:cNvSpPr/>
          <p:nvPr/>
        </p:nvSpPr>
        <p:spPr>
          <a:xfrm>
            <a:off x="8092440" y="373532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65760" y="4114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514600" y="4169664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1368AA"/>
          </a:solidFill>
          <a:ln w="12700">
            <a:solidFill>
              <a:srgbClr val="1368A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4" name="Text 52"/>
          <p:cNvSpPr/>
          <p:nvPr/>
        </p:nvSpPr>
        <p:spPr>
          <a:xfrm>
            <a:off x="2514600" y="416966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246120" y="4178808"/>
            <a:ext cx="4754880" cy="2286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6" name="Shape 54"/>
          <p:cNvSpPr/>
          <p:nvPr/>
        </p:nvSpPr>
        <p:spPr>
          <a:xfrm>
            <a:off x="3246120" y="4178808"/>
            <a:ext cx="1065093" cy="228600"/>
          </a:xfrm>
          <a:prstGeom prst="roundRect">
            <a:avLst>
              <a:gd name="adj" fmla="val 16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7" name="Text 55"/>
          <p:cNvSpPr/>
          <p:nvPr/>
        </p:nvSpPr>
        <p:spPr>
          <a:xfrm>
            <a:off x="8092440" y="411480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3.6%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65760" y="44942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humidity_lag_1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514600" y="4549140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0" name="Text 58"/>
          <p:cNvSpPr/>
          <p:nvPr/>
        </p:nvSpPr>
        <p:spPr>
          <a:xfrm>
            <a:off x="2514600" y="454914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3246120" y="4558284"/>
            <a:ext cx="4754880" cy="2286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2" name="Shape 60"/>
          <p:cNvSpPr/>
          <p:nvPr/>
        </p:nvSpPr>
        <p:spPr>
          <a:xfrm>
            <a:off x="3246120" y="4558284"/>
            <a:ext cx="993770" cy="228600"/>
          </a:xfrm>
          <a:prstGeom prst="roundRect">
            <a:avLst>
              <a:gd name="adj" fmla="val 16000"/>
            </a:avLst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3" name="Text 61"/>
          <p:cNvSpPr/>
          <p:nvPr/>
        </p:nvSpPr>
        <p:spPr>
          <a:xfrm>
            <a:off x="8092440" y="449427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3.3%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34427" y="4913968"/>
            <a:ext cx="8503920" cy="191176"/>
          </a:xfrm>
          <a:prstGeom prst="roundRect">
            <a:avLst>
              <a:gd name="adj" fmla="val 18421"/>
            </a:avLst>
          </a:prstGeom>
          <a:solidFill>
            <a:srgbClr val="EBF4F9"/>
          </a:solidFill>
          <a:ln w="12700">
            <a:solidFill>
              <a:srgbClr val="D4E9F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5" name="Text 63"/>
          <p:cNvSpPr/>
          <p:nvPr/>
        </p:nvSpPr>
        <p:spPr>
          <a:xfrm>
            <a:off x="391363" y="48417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36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cloudcover dominates at 15.9%  ·  humidity_lag_2 (epidemiologically expected) ranks 8th at 4.2%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368AA"/>
          </a:solidFill>
          <a:ln w="12700">
            <a:solidFill>
              <a:srgbClr val="1368A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 System — Thresholds &amp;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Values (Endemic Channel)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4023360" cy="658368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8,519 cases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4023360" cy="658368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8,519 – 15,329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063240"/>
            <a:ext cx="4023360" cy="658368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502920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OUTBREAK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15,329 – 22,139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840480"/>
            <a:ext cx="4023360" cy="658368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50292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SEVERE OUTBREAK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3931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22,139 cases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Distribution on Test Set (119 weeks)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17720" y="1508760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4754880" y="15819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19842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weeks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1783080"/>
            <a:ext cx="2286000" cy="274320"/>
          </a:xfrm>
          <a:prstGeom prst="roundRect">
            <a:avLst>
              <a:gd name="adj" fmla="val 13333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6309360" y="1783080"/>
            <a:ext cx="2055114" cy="27432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6858000" y="1581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89.9%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617720" y="2514600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4754880" y="25877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0" y="2990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weeks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2788920"/>
            <a:ext cx="2286000" cy="274320"/>
          </a:xfrm>
          <a:prstGeom prst="roundRect">
            <a:avLst>
              <a:gd name="adj" fmla="val 13333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Shape 26"/>
          <p:cNvSpPr/>
          <p:nvPr/>
        </p:nvSpPr>
        <p:spPr>
          <a:xfrm>
            <a:off x="6309360" y="2788920"/>
            <a:ext cx="134874" cy="274320"/>
          </a:xfrm>
          <a:prstGeom prst="roundRect">
            <a:avLst>
              <a:gd name="adj" fmla="val 2711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6858000" y="2587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5.9%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617720" y="3520440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1" name="Text 29"/>
          <p:cNvSpPr/>
          <p:nvPr/>
        </p:nvSpPr>
        <p:spPr>
          <a:xfrm>
            <a:off x="4754880" y="3593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OUTBREAK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54880" y="39959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weeks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3794760"/>
            <a:ext cx="2286000" cy="274320"/>
          </a:xfrm>
          <a:prstGeom prst="roundRect">
            <a:avLst>
              <a:gd name="adj" fmla="val 13333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Shape 32"/>
          <p:cNvSpPr/>
          <p:nvPr/>
        </p:nvSpPr>
        <p:spPr>
          <a:xfrm>
            <a:off x="6309360" y="3794760"/>
            <a:ext cx="96012" cy="274320"/>
          </a:xfrm>
          <a:prstGeom prst="roundRect">
            <a:avLst>
              <a:gd name="adj" fmla="val 3809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Text 33"/>
          <p:cNvSpPr/>
          <p:nvPr/>
        </p:nvSpPr>
        <p:spPr>
          <a:xfrm>
            <a:off x="6858000" y="35935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4.2%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320040" y="4617720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Text 35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 8,519  ·  SD: 6,810  ·  Alert threshold = Mean + 1SD  ·  Outbreak = Mean + 2SD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Prediction Output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 rows of Dengue_EWS_Result.csv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1097280" cy="365760"/>
          </a:xfrm>
          <a:prstGeom prst="rect">
            <a:avLst/>
          </a:prstGeom>
          <a:solidFill>
            <a:srgbClr val="1368AA"/>
          </a:solidFill>
          <a:ln w="12700">
            <a:solidFill>
              <a:srgbClr val="1368A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#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54480" y="1444752"/>
            <a:ext cx="2194560" cy="365760"/>
          </a:xfrm>
          <a:prstGeom prst="rect">
            <a:avLst/>
          </a:prstGeom>
          <a:solidFill>
            <a:srgbClr val="1368AA"/>
          </a:solidFill>
          <a:ln w="12700">
            <a:solidFill>
              <a:srgbClr val="1368A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645920" y="14447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Cases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1444752"/>
            <a:ext cx="2468880" cy="365760"/>
          </a:xfrm>
          <a:prstGeom prst="rect">
            <a:avLst/>
          </a:prstGeom>
          <a:solidFill>
            <a:srgbClr val="1368AA"/>
          </a:solidFill>
          <a:ln w="12700">
            <a:solidFill>
              <a:srgbClr val="1368A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3931920" y="1444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Cases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444752"/>
            <a:ext cx="2286000" cy="365760"/>
          </a:xfrm>
          <a:prstGeom prst="rect">
            <a:avLst/>
          </a:prstGeom>
          <a:solidFill>
            <a:srgbClr val="1368AA"/>
          </a:solidFill>
          <a:ln w="12700">
            <a:solidFill>
              <a:srgbClr val="1368A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6492240" y="1444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874520"/>
            <a:ext cx="109728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1554480" y="1874520"/>
            <a:ext cx="219456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3840480" y="1874520"/>
            <a:ext cx="246888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Shape 14"/>
          <p:cNvSpPr/>
          <p:nvPr/>
        </p:nvSpPr>
        <p:spPr>
          <a:xfrm>
            <a:off x="6400800" y="1874520"/>
            <a:ext cx="228600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457200" y="18745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45920" y="1874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4,334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1874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6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9,454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1938528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649224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295144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1554480" y="2295144"/>
            <a:ext cx="2194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Shape 22"/>
          <p:cNvSpPr/>
          <p:nvPr/>
        </p:nvSpPr>
        <p:spPr>
          <a:xfrm>
            <a:off x="3840480" y="2295144"/>
            <a:ext cx="2468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Shape 23"/>
          <p:cNvSpPr/>
          <p:nvPr/>
        </p:nvSpPr>
        <p:spPr>
          <a:xfrm>
            <a:off x="6400800" y="2295144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457200" y="22951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45920" y="22951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8,420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22951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6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9,222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235915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6492240" y="2359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2715768"/>
            <a:ext cx="109728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Shape 30"/>
          <p:cNvSpPr/>
          <p:nvPr/>
        </p:nvSpPr>
        <p:spPr>
          <a:xfrm>
            <a:off x="1554480" y="2715768"/>
            <a:ext cx="219456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Shape 31"/>
          <p:cNvSpPr/>
          <p:nvPr/>
        </p:nvSpPr>
        <p:spPr>
          <a:xfrm>
            <a:off x="3840480" y="2715768"/>
            <a:ext cx="246888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Shape 32"/>
          <p:cNvSpPr/>
          <p:nvPr/>
        </p:nvSpPr>
        <p:spPr>
          <a:xfrm>
            <a:off x="6400800" y="2715768"/>
            <a:ext cx="228600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Text 33"/>
          <p:cNvSpPr/>
          <p:nvPr/>
        </p:nvSpPr>
        <p:spPr>
          <a:xfrm>
            <a:off x="457200" y="27157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645920" y="27157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3,810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931920" y="27157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6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12,407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92240" y="2779776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Text 37"/>
          <p:cNvSpPr/>
          <p:nvPr/>
        </p:nvSpPr>
        <p:spPr>
          <a:xfrm>
            <a:off x="6492240" y="27797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136392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1" name="Shape 39"/>
          <p:cNvSpPr/>
          <p:nvPr/>
        </p:nvSpPr>
        <p:spPr>
          <a:xfrm>
            <a:off x="1554480" y="3136392"/>
            <a:ext cx="2194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2" name="Shape 40"/>
          <p:cNvSpPr/>
          <p:nvPr/>
        </p:nvSpPr>
        <p:spPr>
          <a:xfrm>
            <a:off x="3840480" y="3136392"/>
            <a:ext cx="2468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3" name="Shape 41"/>
          <p:cNvSpPr/>
          <p:nvPr/>
        </p:nvSpPr>
        <p:spPr>
          <a:xfrm>
            <a:off x="6400800" y="3136392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Text 42"/>
          <p:cNvSpPr/>
          <p:nvPr/>
        </p:nvSpPr>
        <p:spPr>
          <a:xfrm>
            <a:off x="457200" y="31363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645920" y="31363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6,947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931920" y="31363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6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10,933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92240" y="320040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8" name="Text 46"/>
          <p:cNvSpPr/>
          <p:nvPr/>
        </p:nvSpPr>
        <p:spPr>
          <a:xfrm>
            <a:off x="6492240" y="3200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3557016"/>
            <a:ext cx="109728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0" name="Shape 48"/>
          <p:cNvSpPr/>
          <p:nvPr/>
        </p:nvSpPr>
        <p:spPr>
          <a:xfrm>
            <a:off x="1554480" y="3557016"/>
            <a:ext cx="219456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1" name="Shape 49"/>
          <p:cNvSpPr/>
          <p:nvPr/>
        </p:nvSpPr>
        <p:spPr>
          <a:xfrm>
            <a:off x="3840480" y="3557016"/>
            <a:ext cx="246888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2" name="Shape 50"/>
          <p:cNvSpPr/>
          <p:nvPr/>
        </p:nvSpPr>
        <p:spPr>
          <a:xfrm>
            <a:off x="6400800" y="3557016"/>
            <a:ext cx="228600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3" name="Text 51"/>
          <p:cNvSpPr/>
          <p:nvPr/>
        </p:nvSpPr>
        <p:spPr>
          <a:xfrm>
            <a:off x="457200" y="35570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645920" y="35570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7,649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931920" y="35570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6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11,937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492240" y="3621024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7" name="Text 55"/>
          <p:cNvSpPr/>
          <p:nvPr/>
        </p:nvSpPr>
        <p:spPr>
          <a:xfrm>
            <a:off x="6492240" y="36210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65760" y="4005072"/>
            <a:ext cx="109728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0" name="Shape 58"/>
          <p:cNvSpPr/>
          <p:nvPr/>
        </p:nvSpPr>
        <p:spPr>
          <a:xfrm>
            <a:off x="1554480" y="4005072"/>
            <a:ext cx="219456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1" name="Shape 59"/>
          <p:cNvSpPr/>
          <p:nvPr/>
        </p:nvSpPr>
        <p:spPr>
          <a:xfrm>
            <a:off x="3840480" y="4005072"/>
            <a:ext cx="246888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2" name="Shape 60"/>
          <p:cNvSpPr/>
          <p:nvPr/>
        </p:nvSpPr>
        <p:spPr>
          <a:xfrm>
            <a:off x="6400800" y="4005072"/>
            <a:ext cx="228600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3" name="Text 61"/>
          <p:cNvSpPr/>
          <p:nvPr/>
        </p:nvSpPr>
        <p:spPr>
          <a:xfrm>
            <a:off x="457200" y="40050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645920" y="40050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12,692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931920" y="4005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6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16,358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492240" y="406908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7" name="Text 65"/>
          <p:cNvSpPr/>
          <p:nvPr/>
        </p:nvSpPr>
        <p:spPr>
          <a:xfrm>
            <a:off x="6492240" y="4069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20040" y="4526280"/>
            <a:ext cx="8503920" cy="384048"/>
          </a:xfrm>
          <a:prstGeom prst="roundRect">
            <a:avLst>
              <a:gd name="adj" fmla="val 16667"/>
            </a:avLst>
          </a:prstGeom>
          <a:solidFill>
            <a:srgbClr val="EBF4F9"/>
          </a:solidFill>
          <a:ln w="12700">
            <a:solidFill>
              <a:srgbClr val="D4E9F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9" name="Text 67"/>
          <p:cNvSpPr/>
          <p:nvPr/>
        </p:nvSpPr>
        <p:spPr>
          <a:xfrm>
            <a:off x="457200" y="45262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36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output saved to Dengue_EWS_Result.csv · 107 ALERT weeks · 7 NORMAL · 5 OUTBREAK weeks detected on test set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3C2C2"/>
          </a:solidFill>
          <a:ln w="12700">
            <a:solidFill>
              <a:srgbClr val="13C2C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0"/>
          </a:xfrm>
          <a:prstGeom prst="line">
            <a:avLst/>
          </a:prstGeom>
          <a:noFill/>
          <a:ln w="31750">
            <a:solidFill>
              <a:srgbClr val="13C2C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6187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2344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pipeline built end-to-end with 602 weekly observations and 20+ lag features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0195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18745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n_estimators=200, max_depth=3, lr=0.03 — MAE 3,311 cases, RMSE 4,133 cases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42032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25146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cloudcover (15.9%) and conditions (10.6%) are top predictors; humidity lag features rank 7th–10th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82112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8680" y="31546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4-level EWS identifies 5 OUTBREAK weeks on test set — actionable for public health response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365760" y="3840480"/>
            <a:ext cx="8412480" cy="1024128"/>
          </a:xfrm>
          <a:prstGeom prst="roundRect">
            <a:avLst>
              <a:gd name="adj" fmla="val 10714"/>
            </a:avLst>
          </a:prstGeom>
          <a:solidFill>
            <a:srgbClr val="132C44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8"/>
          <p:cNvSpPr/>
          <p:nvPr/>
        </p:nvSpPr>
        <p:spPr>
          <a:xfrm>
            <a:off x="594360" y="3886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94360" y="4206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Increase training data span to reduce R² gap  ·  ② Tune threshold using cross-validated baseline  ·  ③ Add spatial/geographic features  ·  ④ Deploy as REST API with real-time weather feed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705</Words>
  <Application>Microsoft Office PowerPoint</Application>
  <PresentationFormat>On-screen Show (16:9)</PresentationFormat>
  <Paragraphs>199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Early Warning System for Dengue</dc:title>
  <dc:subject>PptxGenJS Presentation</dc:subject>
  <dc:creator>Dengue Prediction Team</dc:creator>
  <cp:lastModifiedBy>Alfa Robi</cp:lastModifiedBy>
  <cp:revision>4</cp:revision>
  <dcterms:created xsi:type="dcterms:W3CDTF">2026-06-23T00:43:11Z</dcterms:created>
  <dcterms:modified xsi:type="dcterms:W3CDTF">2026-06-23T03:22:39Z</dcterms:modified>
</cp:coreProperties>
</file>